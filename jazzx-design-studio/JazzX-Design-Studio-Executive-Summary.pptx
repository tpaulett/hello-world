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Lender-side framework. Shadow-first: Jazz runs in parallel on real loans while humans decide everything, graduating to a narrow live slice only after Gate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output is the one most pilots skip and most regret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ask. G0 readiness is entirely within the lender's control; every later gate depends on evidence the studio has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3A4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002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JazzX Design Studio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2450592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3E8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90-Day Implementation Framework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CD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studio launch to a defensible go / no-go decision — gated, shadow-first, and measured against a baseline locked before anything changes.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9304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9304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075688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75688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62072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62072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48456" y="47091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48456" y="4709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5440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gates. Each one a decision, not a checkpoint.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C9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lender programme team  ·  Confidential — no external circulation before G4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studio has to produce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outputs. Everything in the framework serves one of them.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535680" cy="3246120"/>
          </a:xfrm>
          <a:prstGeom prst="roundRect">
            <a:avLst>
              <a:gd name="adj" fmla="val 225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658368" cy="65836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 number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289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Jazz is worth per loan, net of licence, integration and the review overhead the new workflow adds — computed by Finance, not by the studio.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1783080"/>
            <a:ext cx="3535680" cy="3246120"/>
          </a:xfrm>
          <a:prstGeom prst="roundRect">
            <a:avLst>
              <a:gd name="adj" fmla="val 225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32960" y="2103120"/>
            <a:ext cx="658368" cy="65836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292608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decision nobody can relitigate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32960" y="3456432"/>
            <a:ext cx="289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signed before the evidence exists, must-pass conditions that no score can override, and a pre-costed consequence for every outcome including Stop.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1783080"/>
            <a:ext cx="3535680" cy="3246120"/>
          </a:xfrm>
          <a:prstGeom prst="roundRect">
            <a:avLst>
              <a:gd name="adj" fmla="val 225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2960" y="2103120"/>
            <a:ext cx="658368" cy="65836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2960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42960" y="292608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capability we keep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42960" y="3456432"/>
            <a:ext cx="289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that can tune, diagnose and extend Jazz on Day 91 without the vendor in the room — or a priced dependency we entered with our eyes open.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54406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studio that cannot produce a credible no-go was never producing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gate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is a scheduled decision with three outcomes: Advance, Extend, or Stop.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F5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4557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4557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7512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we able to start?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named and released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signed off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chartered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selected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74290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5926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592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4290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38882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we know what "before" looks like?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57170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locked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loans observed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Attested by Underwriting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45659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F5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97296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9729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45659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10251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 enough to touch a live loan?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28539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accuracy vs. thresholds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change log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sign-off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7029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F5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8666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6866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7029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81621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in production?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499909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quality + cycle-time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open borrower defects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readiness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588398" y="1737360"/>
            <a:ext cx="2070202" cy="3291840"/>
          </a:xfrm>
          <a:prstGeom prst="roundRect">
            <a:avLst>
              <a:gd name="adj" fmla="val 353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40035" y="1965960"/>
            <a:ext cx="566928" cy="56692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40035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588398" y="2615184"/>
            <a:ext cx="20702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52990" y="2926080"/>
            <a:ext cx="1741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narrow, extend or stop?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71278" y="3749040"/>
            <a:ext cx="17410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pack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Costed scale plan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52578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 and G4 are the two that cannot be compressed: a baseline cannot be rebuilt after the fact, and a decision without pre-signed criteria is an argument.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Ninety days, five phases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Gated, not calendar-driven — a phase that has not met its gate does not advance because the date arrived.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Mobilize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04088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 to 0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governance, security review, slice selection, baseline instrumentation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rot="5400000">
            <a:off x="2628900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70632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71800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02152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 &amp; Baseline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971800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971800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observation of real work; shadow starts ~Day 15; baseline locked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896612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38344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39512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395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769864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 &amp; Tune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39512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39512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shadow processing; weekly tuning cycle; accuracy tracked to threshold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164324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06056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07224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07224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037576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Live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507224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61–80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507224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slice live with 100% human review; comms activated; defect triage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 rot="5400000">
            <a:off x="9432036" y="3127248"/>
            <a:ext cx="109728" cy="182880"/>
          </a:xfrm>
          <a:prstGeom prst="triangle">
            <a:avLst/>
          </a:prstGeom>
          <a:solidFill>
            <a:srgbClr val="3E8FA3"/>
          </a:solidFill>
          <a:ln w="12700">
            <a:solidFill>
              <a:srgbClr val="3E8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73768" y="1874520"/>
            <a:ext cx="2084832" cy="27432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774936" y="2084832"/>
            <a:ext cx="457200" cy="45720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774936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305288" y="2103120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&amp; Decision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9774936" y="2670048"/>
            <a:ext cx="1682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81–90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774936" y="3017520"/>
            <a:ext cx="1682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pack, business case, costed scale plan, G4 decision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4937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 is the only place genuine cycle-time evidence exists — which is why it is the phase to protect when the schedule tightens.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 first, then a narrow live slice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decides every loan through Day 80. That is the studio's primary control.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640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SHADOW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40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1–60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788920"/>
            <a:ext cx="46405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 processes real loans in parallel; output never reaches the file or the borrower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forms a view first, then reviews Jazz — enforced by timestamp, because anchoring destroys the measurement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recorded in the comparison log — the studio's primary data artifact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 experience and SLAs identical to today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6500" y="178308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52260" y="2011680"/>
            <a:ext cx="46405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LIVE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652260" y="2377440"/>
            <a:ext cx="4640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61–80  ·  authorised at G2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52260" y="2788920"/>
            <a:ext cx="46405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 output enters the file as a clearly labelled proposal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human review — no sampling; nothing stands unless affirmatively accepted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captured with a reason; adverse-action language stays human-authored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FE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QC sampling on the cohort; defects triaged within one business day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55778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 leaves the studio immediately if an SLA is at risk, a borrower is affected, or the underwriter simply judges it is not serving the file — no justification required.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Scope: one narrow slice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enough to reach a usable sample, standard enough that the result generalises.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150–200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 through shadow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this the statistics do not support a conclusion. Volume is validated against 12 months of actuals before G0 and tracked weekly from Day 15.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73168" y="2029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first slice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73168" y="2487168"/>
            <a:ext cx="28437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conforming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W-2 salaried borrowers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 rate-term refinance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Owner-occupied, single-family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channel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states by volume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0" y="178308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22208" y="2029968"/>
            <a:ext cx="2843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excluded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22208" y="2487168"/>
            <a:ext cx="28437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Self-employed / complex income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Non-QM, jumbo, portfolio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lending (FHA/VA/USDA)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renovation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with distinct AI rules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channels or new teams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55778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 that this segment is "already easy" misreads the purpose: the studio establishes whether Jazz works and what it is worth — not how hard a test it can survive.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small, protected team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 eight named seats with funded capacity relief — not volunteers on top of a full pipeline.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Studio Lead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22376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22376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time. Not a 20% role.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6704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underwriter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50–75%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66160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respected sceptic, not an enthusiast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9944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underwriter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9944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9944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tenure — finds different failures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34272" y="1828800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201168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Senior processor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53728" y="2487168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53728" y="2743200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document and condition reality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2376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/ BI analyst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2376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2376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defend numbers to Finance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46704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566160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/ integration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66160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66160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LOS access, not a ticket queue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90488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9944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liaison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9944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10–20%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09944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Weekly, not just at gates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34272" y="3401568"/>
            <a:ext cx="2624328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584448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JazzX engagement lead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53728" y="4059936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SOW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253728" y="4315968"/>
            <a:ext cx="2185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individual, contracted presence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" y="51663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relief that exists only on paper is the single most common cause of studio failure — shadow mode adds 15–25% touch time per loan before it removes any.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measure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value families, plus a guardrail set that must not degrade.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38528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77240" y="2395728"/>
            <a:ext cx="298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touch time per loan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 touch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Touches per loan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clearing effort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overhead — the new cost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041648"/>
            <a:ext cx="298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time, never headcount. Elapsed time is not touch time.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12920" y="173736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7240" y="1938528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87240" y="2395728"/>
            <a:ext cx="298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recognition accuracy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extraction accuracy, weighted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precision and recall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clear rate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and post-close defects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87240" y="4041648"/>
            <a:ext cx="298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clears and false conditions are not symmetric. Separate thresholds.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22920" y="1737360"/>
            <a:ext cx="3535680" cy="3017520"/>
          </a:xfrm>
          <a:prstGeom prst="roundRect">
            <a:avLst>
              <a:gd name="adj" fmla="val 2424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97240" y="1938528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Cycle-time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397240" y="2395728"/>
            <a:ext cx="298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turn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turn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to CTC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dwell time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vs. waiting ratio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397240" y="4041648"/>
            <a:ext cx="298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cannot measure this. Only Phase 3 produces real evidence.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5102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— must not degrade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544982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quality  ·  Fair lending  ·  Borrower complaints  ·  Employee sentiment  ·  Investor &amp; agency compliance  ·  Data security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09160" y="5102352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9FBE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breach blocks the gate regardless of how strong the headline numbers are.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baseline is the critical path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integration. Not the tuning.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193852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baseline cannot be reconstructed after Jazz begins influencing the workflow.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Locked at G1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30, attested by Finance and Underwriting, never revised afterward using post-Jazz data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55848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sources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11880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events, structured observation, QC review, participant time diary — triangulated, never one alone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08776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Paired where possible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64808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runs Jazz on the same loans humans work, so most quality metrics are paired — far more powerful than comparing separate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061704" y="3108960"/>
            <a:ext cx="2596896" cy="2331720"/>
          </a:xfrm>
          <a:prstGeom prst="roundRect">
            <a:avLst>
              <a:gd name="adj" fmla="val 3137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17736" y="33101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power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317736" y="3877056"/>
            <a:ext cx="2084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 20%→15% shift needs ~900 loans per arm. Report what the sample supports and label the rest directional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3E8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Phase 1 slips, extend Phase 1 — never compress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weekly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Ninety minutes that convert observation into change. Never cancelled.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0–10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26280" y="18288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closed since last week, named with who raised it. This is what keeps people contributing.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624328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10–25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670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26280" y="267004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completion rate, accuracy trend, defects — trajectory against sample and thresholds.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465576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511296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25–50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3511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review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26280" y="3511296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real loans where human and Jazz disagreed, worked with the file open. The highest-value 25 minutes in the program.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306824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352544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3525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backlog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26280" y="4352544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on frequency × severity, assign owners, agree what ships this week.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148072"/>
            <a:ext cx="11155680" cy="731520"/>
          </a:xfrm>
          <a:prstGeom prst="roundRect">
            <a:avLst>
              <a:gd name="adj" fmla="val 10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193792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70–90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519379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Blockers, then decisions read 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26280" y="5193792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that produces discussion but no written decision list has failed.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include the cases where Jazz was right and the human was wrong — the highest-value cases, and the least likely to be volunteered.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— and the capability we keep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only JazzX can change it at Day 91, we bought a service, not a capability.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22376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22376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JazzX makes changes; we observe and ask. No expectation of independence.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70632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90088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16–30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90088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990088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the change specification; JazzX implements. Builds precision before mechanics.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38344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57800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257800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drive with JazzX alongside. Builder Studio access live for 3+ named people.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06056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25512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46–70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25512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25512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implement; JazzX reviews. Every change is ours.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73768" y="1828800"/>
            <a:ext cx="2084832" cy="2514600"/>
          </a:xfrm>
          <a:prstGeom prst="roundRect">
            <a:avLst>
              <a:gd name="adj" fmla="val 3509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93224" y="20299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71–90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93224" y="232257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793224" y="2779776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JazzX on escalation only. Independence formally assessed at Day 85.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7200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960" y="4754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 discipline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86200" y="4754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substantive change per surface per cycle — or the effect cannot be attributed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freeze, version tag on every studio loan, full regression set every cycle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001000" y="4754880"/>
            <a:ext cx="3337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holdout of 30–40 early loans, never tuned against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at Day 45, 60, 85 — the only way to separate real improvement from us getting used to it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Day 90 decision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outcomes, not two. Criteria signed before the evidence exists.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4663440" cy="3931920"/>
          </a:xfrm>
          <a:prstGeom prst="roundRect">
            <a:avLst>
              <a:gd name="adj" fmla="val 186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938528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must-pass criteria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95528" y="228600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Absolute. No weighted score, however strong, overrides a failure.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5528" y="2688336"/>
            <a:ext cx="4078224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unremediated borrower-impacting defect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clear rate no worse than baseline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sign-off for production use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risk validation satisfied to tier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Adverse-action articulability demonstrated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adverse fair lending pattern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unresolved security incidents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viability acceptable at scale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0" y="173736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0E3A4F"/>
          </a:solidFill>
          <a:ln w="12700">
            <a:solidFill>
              <a:srgbClr val="0E3A4F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42432" y="190195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742432" y="230428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must-pass clear, weighted ≥ 3.5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42432" y="267004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released to the pre-agreed figure; team stood up in 30 days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709660" y="173736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5692" y="190195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965692" y="230428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concentrated in part of the slice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5692" y="267004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use continues only where value was proven; contract right-sized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0" y="374904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42432" y="391363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742432" y="431596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inconclusive, not disappointing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42432" y="468172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use only, 60 days maximum, written statement of what will differ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09660" y="3749040"/>
            <a:ext cx="2948940" cy="1828800"/>
          </a:xfrm>
          <a:prstGeom prst="roundRect">
            <a:avLst>
              <a:gd name="adj" fmla="val 4000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5692" y="3913632"/>
            <a:ext cx="2436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965692" y="4315968"/>
            <a:ext cx="2436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must-pass fails, or weighted &lt; 2.5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65692" y="4681728"/>
            <a:ext cx="24368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end date, contract exit, findings published, team recognised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Stop row cannot be costed at G0, the organisation is not running a studio — it is running a rollout with a pilot label.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will actually go wrong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failure modes worth designing against now.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865376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2075688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16152" y="19385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relief exists on paper only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19385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rush the comparison step; the quality data reflects hurried humans, and the G2 read is wrong in a direction nobody can detect.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8503920" y="19385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in assignment rules; comparison completion rate watched weekly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953512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16152" y="28163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baseline never locks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206240" y="28163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data is not clean yet" becomes permanent, and at Day 90 there is nothing to compare against.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503920" y="28163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Time-boxed to Phase 1; lock with documented limitations rather than chasing perfection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02920" y="3621024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3831336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16152" y="369417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 move to fit the result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206240" y="369417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becomes an argument about what counts as success.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8503920" y="3694176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and dated before G2 evidence exists; held by Finance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02920" y="4498848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709160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6152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Anchoring contaminates the comparison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206240" y="45720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look at Jazz first when busy; recall measurement becomes meaningless.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8503920" y="457200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by timestamp, spot-checked weekly, contaminated entries excluded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502920" y="5376672"/>
            <a:ext cx="11155680" cy="786384"/>
          </a:xfrm>
          <a:prstGeom prst="roundRect">
            <a:avLst>
              <a:gd name="adj" fmla="val 9302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088" y="5586984"/>
            <a:ext cx="365760" cy="36576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088" y="5586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16152" y="544982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never transfers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206240" y="5449824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13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Day 91 only JazzX can change anything, and the scale decision carries an unpriced dependency.</a:t>
            </a:r>
            <a:endParaRPr lang="en-US" sz="1080" dirty="0"/>
          </a:p>
        </p:txBody>
      </p:sp>
      <p:sp>
        <p:nvSpPr>
          <p:cNvPr id="33" name="Text 31"/>
          <p:cNvSpPr/>
          <p:nvPr/>
        </p:nvSpPr>
        <p:spPr>
          <a:xfrm>
            <a:off x="8503920" y="544982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i="1" dirty="0">
                <a:solidFill>
                  <a:srgbClr val="1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deliverable with a formal Day 85 independence assessment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1216152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framework pack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one-pagers, each with purpose, RACI, decisions, framework, templates, cadence, definition of done and risks.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624328" cy="813816"/>
          </a:xfrm>
          <a:prstGeom prst="roundRect">
            <a:avLst>
              <a:gd name="adj" fmla="val 8989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22376" y="192024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22376" y="224028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Master 90-Day Plan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2816352"/>
            <a:ext cx="2624328" cy="1554480"/>
          </a:xfrm>
          <a:prstGeom prst="roundRect">
            <a:avLst>
              <a:gd name="adj" fmla="val 4706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22376" y="2953512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Alignment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22376" y="327355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 Cost &amp; Timeline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376" y="352044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 Scope Definition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376" y="3767328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 Statement of Work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2376" y="401421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 Master Services Agreement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46704" y="1783080"/>
            <a:ext cx="2624328" cy="1801368"/>
          </a:xfrm>
          <a:prstGeom prst="roundRect">
            <a:avLst>
              <a:gd name="adj" fmla="val 4061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566160" y="192024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Readiness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224028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Governance Structure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66160" y="2487168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Borrower &amp; Internal Comms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66160" y="273405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Change Management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980944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Security Review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66160" y="322783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 Access Controls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46704" y="3803904"/>
            <a:ext cx="2624328" cy="1307592"/>
          </a:xfrm>
          <a:prstGeom prst="roundRect">
            <a:avLst>
              <a:gd name="adj" fmla="val 5594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66160" y="394106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Proof of Value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566160" y="4261104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Defining Value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566160" y="450799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Baseline &amp; Thresholds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475488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Go / No-Go Criteria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90488" y="1783080"/>
            <a:ext cx="2624328" cy="2048256"/>
          </a:xfrm>
          <a:prstGeom prst="roundRect">
            <a:avLst>
              <a:gd name="adj" fmla="val 3571"/>
            </a:avLst>
          </a:prstGeom>
          <a:solidFill>
            <a:srgbClr val="F7F9FA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9944" y="192024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Design Studio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9944" y="224028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Launch Design Studio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9944" y="2487168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Cross-Functional Team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9944" y="273405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Loan Types &amp; Market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9944" y="2980944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Studio vs. Current Workflow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9944" y="322783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Weekly Feedback Loop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9944" y="347472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Observing Real Underwriting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34272" y="1783080"/>
            <a:ext cx="2624328" cy="1801368"/>
          </a:xfrm>
          <a:prstGeom prst="roundRect">
            <a:avLst>
              <a:gd name="adj" fmla="val 4061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53728" y="192024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 in Jazz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53728" y="224028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Tune in Jazz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253728" y="2487168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Refining Prompts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253728" y="273405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Documenting Improvement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253728" y="2980944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 Next Technology Changes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253728" y="322783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 Builder Studio &amp; Nuggets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34272" y="3803904"/>
            <a:ext cx="2624328" cy="1801368"/>
          </a:xfrm>
          <a:prstGeom prst="roundRect">
            <a:avLst>
              <a:gd name="adj" fmla="val 4061"/>
            </a:avLst>
          </a:prstGeom>
          <a:solidFill>
            <a:srgbClr val="E8F1F4"/>
          </a:solidFill>
          <a:ln w="12700">
            <a:solidFill>
              <a:srgbClr val="D3E3E8"/>
            </a:solidFill>
            <a:prstDash val="solid"/>
          </a:ln>
          <a:effectLst>
            <a:outerShdw sx="100000" sy="100000" kx="0" ky="0" algn="bl" rotWithShape="0" blurRad="127000" dist="25400" dir="5400000">
              <a:srgbClr val="0E3A4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253728" y="3941064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6B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9253728" y="4261104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 Triggering Loans to Jazz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253728" y="4507992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 Extraction &amp; Write-Back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53728" y="4754880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MU Conditions Integration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253728" y="5001768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 Minimizing Custom Dev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253728" y="524865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E3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 Minimum-Change Deploy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F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 in the pack has fill-in fields rather than assumed answers — the slice, the roster, the thresholds and the decision rule are yours to set at G0.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3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need to start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6070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decisions and one signature stand between here and Day 1.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0664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sponsor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0664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executive accountable for the go / no-go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51276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9020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released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89020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 eight seats with funded capacity relief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Slice selected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37376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inclusion rule, volume validated against 12 months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47988" y="19659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5732" y="21488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chartered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85732" y="25694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Steering, Working Group, control functions with block rights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review started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0664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longest-lead dependency — start before the SOW is countersigned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51276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9020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instrumented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89020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live before the first shadow loan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9632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37376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Thresholds drafted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37376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before G2 evidence exists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47988" y="3566160"/>
            <a:ext cx="2610612" cy="1389888"/>
          </a:xfrm>
          <a:prstGeom prst="roundRect">
            <a:avLst>
              <a:gd name="adj" fmla="val 5263"/>
            </a:avLst>
          </a:prstGeom>
          <a:solidFill>
            <a:srgbClr val="11475C"/>
          </a:solidFill>
          <a:ln w="12700">
            <a:solidFill>
              <a:srgbClr val="1E5C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5732" y="3749040"/>
            <a:ext cx="2135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pre-costed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85732" y="4169664"/>
            <a:ext cx="21351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terms and data return agreed while nobody is invested in the answer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61288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1288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19656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478024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78024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136392" y="5440680"/>
            <a:ext cx="475488" cy="47548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36392" y="5440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3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251960" y="55321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0 is the only one we control entirely. Everything after it is evidence.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JazzX Design Studio — 90-Day Framework</dc:title>
  <dc:subject>PptxGenJS Presentation</dc:subject>
  <dc:creator>Design Studio Program Office</dc:creator>
  <cp:lastModifiedBy>Design Studio Program Office</cp:lastModifiedBy>
  <cp:revision>1</cp:revision>
  <dcterms:created xsi:type="dcterms:W3CDTF">2026-08-04T00:30:33Z</dcterms:created>
  <dcterms:modified xsi:type="dcterms:W3CDTF">2026-08-04T00:30:33Z</dcterms:modified>
</cp:coreProperties>
</file>