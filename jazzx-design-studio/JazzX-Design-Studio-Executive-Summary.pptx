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Lender-side framework. Shadow-first: Jazz runs in parallel on real loans while humans decide everything, graduating to a narrow live slice only after Gate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output is the one most pilots skip and most regret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ask. G0 readiness is entirely within the lender's control; every later gate depends on evidence the studio has to 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3A4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002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JazzX Design Studio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245059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3E8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90-Day Implementation Framework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32461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BC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studio launch to a defensible go / no-go decision — gated, shadow-first, and measured against a baseline locked before anything changes.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4709160"/>
            <a:ext cx="566928" cy="56692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89304" y="4709160"/>
            <a:ext cx="566928" cy="56692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9304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75688" y="4709160"/>
            <a:ext cx="566928" cy="56692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75688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62072" y="4709160"/>
            <a:ext cx="566928" cy="56692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62072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48456" y="4709160"/>
            <a:ext cx="566928" cy="56692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48456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5440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3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gates. Each one a decision, not a checkpoint.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614476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lender programme team  ·  Confidential — no external circulation before G4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studio has to produce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6070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outputs. Everything in the framework serves one of them.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35680" cy="3246120"/>
          </a:xfrm>
          <a:prstGeom prst="roundRect">
            <a:avLst>
              <a:gd name="adj" fmla="val 2254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58368" cy="65836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defensible number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456432"/>
            <a:ext cx="289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Jazz is worth per loan, net of licence, integration and the review overhead the new workflow adds — computed by Finance, not by the studio.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2920" y="1783080"/>
            <a:ext cx="3535680" cy="3246120"/>
          </a:xfrm>
          <a:prstGeom prst="roundRect">
            <a:avLst>
              <a:gd name="adj" fmla="val 2254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2960" y="2103120"/>
            <a:ext cx="658368" cy="65836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2960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32960" y="292608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decision nobody can relitigate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32960" y="3456432"/>
            <a:ext cx="289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signed before the evidence exists, must-pass conditions that no score can override, and a pre-costed consequence for every outcome including Stop.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2920" y="1783080"/>
            <a:ext cx="3535680" cy="3246120"/>
          </a:xfrm>
          <a:prstGeom prst="roundRect">
            <a:avLst>
              <a:gd name="adj" fmla="val 2254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42960" y="2103120"/>
            <a:ext cx="658368" cy="65836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2960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42960" y="292608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capability we keep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42960" y="3456432"/>
            <a:ext cx="289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that can tune, diagnose and extend Jazz on Day 91 without the vendor in the room — or a priced dependency we entered with our eyes open.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54406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studio that cannot produce a credible no-go was never producing evidence.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6070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gate is a scheduled decision with three outcomes: Advance, Extend, or Stop.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070202" cy="3291840"/>
          </a:xfrm>
          <a:prstGeom prst="roundRect">
            <a:avLst>
              <a:gd name="adj" fmla="val 3534"/>
            </a:avLst>
          </a:prstGeom>
          <a:solidFill>
            <a:srgbClr val="F5F9FA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4557" y="1965960"/>
            <a:ext cx="566928" cy="56692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54557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615184"/>
            <a:ext cx="20702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" y="2926080"/>
            <a:ext cx="17410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we able to start?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17410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named and released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signed off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chartered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selected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4290" y="1737360"/>
            <a:ext cx="2070202" cy="3291840"/>
          </a:xfrm>
          <a:prstGeom prst="roundRect">
            <a:avLst>
              <a:gd name="adj" fmla="val 3534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5926" y="1965960"/>
            <a:ext cx="566928" cy="56692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5926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74290" y="2615184"/>
            <a:ext cx="20702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38882" y="2926080"/>
            <a:ext cx="17410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we know what "before" looks like?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57170" y="3749040"/>
            <a:ext cx="17410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locked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loans observed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Attested by Underwriting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45659" y="1737360"/>
            <a:ext cx="2070202" cy="3291840"/>
          </a:xfrm>
          <a:prstGeom prst="roundRect">
            <a:avLst>
              <a:gd name="adj" fmla="val 3534"/>
            </a:avLst>
          </a:prstGeom>
          <a:solidFill>
            <a:srgbClr val="F5F9FA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97296" y="1965960"/>
            <a:ext cx="566928" cy="56692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97296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45659" y="2615184"/>
            <a:ext cx="20702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0251" y="2926080"/>
            <a:ext cx="17410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enough to touch a live loan?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228539" y="3749040"/>
            <a:ext cx="17410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accuracy vs. thresholds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change log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sign-off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7029" y="1737360"/>
            <a:ext cx="2070202" cy="3291840"/>
          </a:xfrm>
          <a:prstGeom prst="roundRect">
            <a:avLst>
              <a:gd name="adj" fmla="val 3534"/>
            </a:avLst>
          </a:prstGeom>
          <a:solidFill>
            <a:srgbClr val="F5F9FA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68666" y="1965960"/>
            <a:ext cx="566928" cy="56692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8666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7029" y="2615184"/>
            <a:ext cx="20702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81621" y="2926080"/>
            <a:ext cx="17410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hold up in production?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499909" y="3749040"/>
            <a:ext cx="17410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quality + cycle-time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open borrower defects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readiness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588398" y="1737360"/>
            <a:ext cx="2070202" cy="3291840"/>
          </a:xfrm>
          <a:prstGeom prst="roundRect">
            <a:avLst>
              <a:gd name="adj" fmla="val 3534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40035" y="1965960"/>
            <a:ext cx="566928" cy="56692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40035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588398" y="2615184"/>
            <a:ext cx="20702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52990" y="2926080"/>
            <a:ext cx="17410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Scale, narrow, extend or stop?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771278" y="3749040"/>
            <a:ext cx="17410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 pack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Costed scale plan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52578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and G4 are the two that cannot be compressed: a baseline cannot be rebuilt after the fact, and a decision without pre-signed criteria is an argument.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Ninety days, five phases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6070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Gated, not calendar-driven — a phase that has not met its gate does not advance because the date arrived.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2084832"/>
            <a:ext cx="457200" cy="45720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10312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Mobilize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04088" y="267004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−14 to 0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04088" y="3017520"/>
            <a:ext cx="16824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Team, governance, security review, slice selection, baseline instrumentation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2628900" y="3127248"/>
            <a:ext cx="109728" cy="182880"/>
          </a:xfrm>
          <a:prstGeom prst="triangle">
            <a:avLst/>
          </a:prstGeom>
          <a:solidFill>
            <a:srgbClr val="3E8FA3"/>
          </a:solidFill>
          <a:ln w="12700">
            <a:solidFill>
              <a:srgbClr val="3E8F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0632" y="187452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71800" y="2084832"/>
            <a:ext cx="457200" cy="45720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02152" y="210312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 &amp; Baseline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971800" y="267004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71800" y="3017520"/>
            <a:ext cx="16824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observation of real work; shadow starts ~Day 15; baseline locked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5400000">
            <a:off x="4896612" y="3127248"/>
            <a:ext cx="109728" cy="182880"/>
          </a:xfrm>
          <a:prstGeom prst="triangle">
            <a:avLst/>
          </a:prstGeom>
          <a:solidFill>
            <a:srgbClr val="3E8FA3"/>
          </a:solidFill>
          <a:ln w="12700">
            <a:solidFill>
              <a:srgbClr val="3E8F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38344" y="187452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39512" y="2084832"/>
            <a:ext cx="457200" cy="45720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951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769864" y="210312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 &amp; Tune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239512" y="267004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39512" y="3017520"/>
            <a:ext cx="16824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shadow processing; weekly tuning cycle; accuracy tracked to threshold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rot="5400000">
            <a:off x="7164324" y="3127248"/>
            <a:ext cx="109728" cy="182880"/>
          </a:xfrm>
          <a:prstGeom prst="triangle">
            <a:avLst/>
          </a:prstGeom>
          <a:solidFill>
            <a:srgbClr val="3E8FA3"/>
          </a:solidFill>
          <a:ln w="12700">
            <a:solidFill>
              <a:srgbClr val="3E8F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06056" y="187452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0E3A4F"/>
          </a:solidFill>
          <a:ln w="12700">
            <a:solidFill>
              <a:srgbClr val="0E3A4F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07224" y="2084832"/>
            <a:ext cx="457200" cy="45720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07224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037576" y="210312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Live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507224" y="267004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61–80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507224" y="3017520"/>
            <a:ext cx="16824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slice live with 100% human review; comms activated; defect triage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 rot="5400000">
            <a:off x="9432036" y="3127248"/>
            <a:ext cx="109728" cy="182880"/>
          </a:xfrm>
          <a:prstGeom prst="triangle">
            <a:avLst/>
          </a:prstGeom>
          <a:solidFill>
            <a:srgbClr val="3E8FA3"/>
          </a:solidFill>
          <a:ln w="12700">
            <a:solidFill>
              <a:srgbClr val="3E8FA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73768" y="187452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774936" y="2084832"/>
            <a:ext cx="457200" cy="45720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74936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305288" y="210312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&amp; Decision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774936" y="267004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81–90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774936" y="3017520"/>
            <a:ext cx="16824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pack, business case, costed scale plan, G4 decision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4937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is the only place genuine cycle-time evidence exists — which is why it is the phase to protect when the schedule tightens.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 first, then a narrow live slice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6070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decides every loan through Day 80. That is the studio's primary control.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72100" cy="3566160"/>
          </a:xfrm>
          <a:prstGeom prst="roundRect">
            <a:avLst>
              <a:gd name="adj" fmla="val 2051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640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640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1–60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46405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Jazz processes real loans in parallel; output never reaches the file or the borrower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forms a view first, then reviews Jazz — enforced by timestamp, because anchoring destroys the measurement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recorded in the comparison log — the studio's primary data artifact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experience and SLAs identical to today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86500" y="1783080"/>
            <a:ext cx="5372100" cy="3566160"/>
          </a:xfrm>
          <a:prstGeom prst="roundRect">
            <a:avLst>
              <a:gd name="adj" fmla="val 2051"/>
            </a:avLst>
          </a:prstGeom>
          <a:solidFill>
            <a:srgbClr val="0E3A4F"/>
          </a:solidFill>
          <a:ln w="12700">
            <a:solidFill>
              <a:srgbClr val="0E3A4F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52260" y="2011680"/>
            <a:ext cx="4640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LIVE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52260" y="2377440"/>
            <a:ext cx="4640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61–80  ·  authorised at G2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52260" y="2788920"/>
            <a:ext cx="46405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Jazz output enters the file as a clearly labelled proposal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human review — no sampling; nothing stands unless affirmatively accepted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rejection captured with a reason; adverse-action language stays human-authored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QC sampling on the cohort; defects triaged within one business day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55778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loan leaves the studio immediately if an SLA is at risk, a borrower is affected, or the underwriter simply judges it is not serving the file — no justification required.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Scope: one narrow slice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6070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enough to reach a usable sample, standard enough that the result generalises.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703320" cy="3566160"/>
          </a:xfrm>
          <a:prstGeom prst="roundRect">
            <a:avLst>
              <a:gd name="adj" fmla="val 2051"/>
            </a:avLst>
          </a:prstGeom>
          <a:solidFill>
            <a:srgbClr val="0E3A4F"/>
          </a:solidFill>
          <a:ln w="12700">
            <a:solidFill>
              <a:srgbClr val="0E3A4F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150–200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through shadow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this the statistics do not support a conclusion. Volume is validated against 12 months of actuals before G0 and tracked weekly from Day 15.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7830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2029968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first slice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73168" y="2487168"/>
            <a:ext cx="28437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conforming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W-2 salaried borrowers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 rate-term refinance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Owner-occupied, single-family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channel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states by volume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17830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7F9FA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22208" y="2029968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excluded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22208" y="2487168"/>
            <a:ext cx="28437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Self-employed / complex income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Non-QM, jumbo, portfolio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lending (FHA/VA/USDA)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and renovation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with distinct AI rules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channels or new teams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55778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objection that this segment is "already easy" misreads the purpose: the studio establishes whether Jazz works and what it is worth — not how hard a test it can survive.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small, protected 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6070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to eight named seats with funded capacity relief — not volunteers on top of a full pipeline.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" y="201168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Studio Lead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2376" y="2487168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2376" y="274320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time. Not a 20% role.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6704" y="182880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201168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underwriter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2487168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74320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respected sceptic, not an enthusiast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90488" y="182880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9944" y="201168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underwriter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9944" y="2487168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9944" y="274320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tenure — finds different failures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34272" y="182880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53728" y="201168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processor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53728" y="2487168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53728" y="274320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document and condition reality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401568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F7F9FA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" y="358444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/ BI analyst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2376" y="4059936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" y="4315968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defend numbers to Finance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46704" y="3401568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F7F9FA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66160" y="358444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/ integration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66160" y="4059936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25–50%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66160" y="4315968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LOS access, not a ticket queue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90488" y="3401568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F7F9FA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9944" y="358444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liaison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9944" y="4059936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9944" y="4315968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Weekly, not just at gates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34272" y="3401568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F7F9FA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253728" y="358444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JazzX engagement lead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53728" y="4059936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SOW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53728" y="4315968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individual, contracted presence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51663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1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relief that exists only on paper is the single most common cause of studio failure — shadow mode adds 15–25% touch time per loan before it removes any.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measure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6070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value families, plus a guardrail set that must not degrade.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535680" cy="3017520"/>
          </a:xfrm>
          <a:prstGeom prst="roundRect">
            <a:avLst>
              <a:gd name="adj" fmla="val 2424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38528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395728"/>
            <a:ext cx="298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Underwriter touch time per loan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touch time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 per loan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clearing effort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overhead — the new cost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4041648"/>
            <a:ext cx="298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time, never headcount. Elapsed time is not touch time.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12920" y="1737360"/>
            <a:ext cx="3535680" cy="3017520"/>
          </a:xfrm>
          <a:prstGeom prst="roundRect">
            <a:avLst>
              <a:gd name="adj" fmla="val 2424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87240" y="1938528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87240" y="2395728"/>
            <a:ext cx="298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recognition accuracy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accuracy, weighted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precision and recall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clear rate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and post-close defects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87240" y="4041648"/>
            <a:ext cx="298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clears and false conditions are not symmetric. Separate thresholds.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22920" y="1737360"/>
            <a:ext cx="3535680" cy="3017520"/>
          </a:xfrm>
          <a:prstGeom prst="roundRect">
            <a:avLst>
              <a:gd name="adj" fmla="val 2424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97240" y="1938528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Cycle-time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397240" y="2395728"/>
            <a:ext cx="298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turn time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turn time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to CTC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/ dwell time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vs. waiting ratio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97240" y="4041648"/>
            <a:ext cx="298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cannot measure this. Only Phase 3 produces real evidence.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93776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0E3A4F"/>
          </a:solidFill>
          <a:ln w="12700">
            <a:solidFill>
              <a:srgbClr val="0E3A4F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5102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— must not degrade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544982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quality  ·  Fair lending  ·  Borrower complaints  ·  Employee sentiment  ·  Investor &amp; agency compliance  ·  Data security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510235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9FB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breach blocks the gate regardless of how strong the headline numbers are.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3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baseline is the critical path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6070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integration. Not the tuning.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938528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baseline cannot be reconstructed after Jazz begins influencing the workflow.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3108960"/>
            <a:ext cx="2596896" cy="2331720"/>
          </a:xfrm>
          <a:prstGeom prst="roundRect">
            <a:avLst>
              <a:gd name="adj" fmla="val 3137"/>
            </a:avLst>
          </a:prstGeom>
          <a:solidFill>
            <a:srgbClr val="11475C"/>
          </a:solidFill>
          <a:ln w="12700">
            <a:solidFill>
              <a:srgbClr val="1E5C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331012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at G1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3877056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30, attested by Finance and Underwriting, never revised afterward using post-Jazz data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55848" y="3108960"/>
            <a:ext cx="2596896" cy="2331720"/>
          </a:xfrm>
          <a:prstGeom prst="roundRect">
            <a:avLst>
              <a:gd name="adj" fmla="val 3137"/>
            </a:avLst>
          </a:prstGeom>
          <a:solidFill>
            <a:srgbClr val="11475C"/>
          </a:solidFill>
          <a:ln w="12700">
            <a:solidFill>
              <a:srgbClr val="1E5C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331012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sources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11880" y="3877056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events, structured observation, QC review, participant time diary — triangulated, never one alone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08776" y="3108960"/>
            <a:ext cx="2596896" cy="2331720"/>
          </a:xfrm>
          <a:prstGeom prst="roundRect">
            <a:avLst>
              <a:gd name="adj" fmla="val 3137"/>
            </a:avLst>
          </a:prstGeom>
          <a:solidFill>
            <a:srgbClr val="11475C"/>
          </a:solidFill>
          <a:ln w="12700">
            <a:solidFill>
              <a:srgbClr val="1E5C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331012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Paired where possible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64808" y="3877056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runs Jazz on the same loans humans work, so most quality metrics are paired — far more powerful than comparing separate groups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61704" y="3108960"/>
            <a:ext cx="2596896" cy="2331720"/>
          </a:xfrm>
          <a:prstGeom prst="roundRect">
            <a:avLst>
              <a:gd name="adj" fmla="val 3137"/>
            </a:avLst>
          </a:prstGeom>
          <a:solidFill>
            <a:srgbClr val="11475C"/>
          </a:solidFill>
          <a:ln w="12700">
            <a:solidFill>
              <a:srgbClr val="1E5C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17736" y="331012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about power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17736" y="3877056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 20%→15% shift needs ~900 loans per arm. Report what the sample supports and label the rest directional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5669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3E8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Phase 1 slips, extend Phase 1 — never compress it.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weekly loop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6070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Ninety minutes that convert observation into change. Never cancelled.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55680" cy="731520"/>
          </a:xfrm>
          <a:prstGeom prst="roundRect">
            <a:avLst>
              <a:gd name="adj" fmla="val 10000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26280" y="18288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closed since last week, named with who raised it. This is what keeps people contributing.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624328"/>
            <a:ext cx="11155680" cy="7315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12700">
            <a:solidFill>
              <a:srgbClr val="D3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7004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37360" y="26700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26280" y="267004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completion rate, accuracy trend, defects — trajectory against sample and thresholds.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465576"/>
            <a:ext cx="11155680" cy="731520"/>
          </a:xfrm>
          <a:prstGeom prst="roundRect">
            <a:avLst>
              <a:gd name="adj" fmla="val 10000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11296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25–50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37360" y="35112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review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26280" y="3511296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three real loans where human and Jazz disagreed, worked with the file open. The highest-value 25 minutes in the program.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306824"/>
            <a:ext cx="11155680" cy="7315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12700">
            <a:solidFill>
              <a:srgbClr val="D3E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352544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50–70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35254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 backlog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26280" y="4352544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on frequency × severity, assign owners, agree what ships this week.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5148072"/>
            <a:ext cx="11155680" cy="731520"/>
          </a:xfrm>
          <a:prstGeom prst="roundRect">
            <a:avLst>
              <a:gd name="adj" fmla="val 10000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193792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70–90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37360" y="519379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Blockers, then decisions read back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26280" y="51937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that produces discussion but no written decision list has failed.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include the cases where Jazz was right and the human was wrong — the highest-value cases, and the least likely to be volunteered.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 — and the capability we keep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6070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only JazzX can change it at Day 91, we bought a service, not a capability.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084832" cy="2514600"/>
          </a:xfrm>
          <a:prstGeom prst="roundRect">
            <a:avLst>
              <a:gd name="adj" fmla="val 3509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" y="2029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22376" y="23225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22376" y="2779776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JazzX makes changes; we observe and ask. No expectation of independence.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70632" y="1828800"/>
            <a:ext cx="2084832" cy="2514600"/>
          </a:xfrm>
          <a:prstGeom prst="roundRect">
            <a:avLst>
              <a:gd name="adj" fmla="val 3509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90088" y="2029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16–30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90088" y="23225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990088" y="2779776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write the change specification; JazzX implements. Builds precision before mechanics.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38344" y="1828800"/>
            <a:ext cx="2084832" cy="2514600"/>
          </a:xfrm>
          <a:prstGeom prst="roundRect">
            <a:avLst>
              <a:gd name="adj" fmla="val 3509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57800" y="2029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31–45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57800" y="23225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257800" y="2779776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drive with JazzX alongside. Builder Studio access live for 3+ named people.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06056" y="1828800"/>
            <a:ext cx="2084832" cy="2514600"/>
          </a:xfrm>
          <a:prstGeom prst="roundRect">
            <a:avLst>
              <a:gd name="adj" fmla="val 3509"/>
            </a:avLst>
          </a:prstGeom>
          <a:solidFill>
            <a:srgbClr val="0E3A4F"/>
          </a:solidFill>
          <a:ln w="12700">
            <a:solidFill>
              <a:srgbClr val="0E3A4F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25512" y="2029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46–70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25512" y="23225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525512" y="2779776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implement; JazzX reviews. Every change is ours.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73768" y="1828800"/>
            <a:ext cx="2084832" cy="2514600"/>
          </a:xfrm>
          <a:prstGeom prst="roundRect">
            <a:avLst>
              <a:gd name="adj" fmla="val 3509"/>
            </a:avLst>
          </a:prstGeom>
          <a:solidFill>
            <a:srgbClr val="0E3A4F"/>
          </a:solidFill>
          <a:ln w="12700">
            <a:solidFill>
              <a:srgbClr val="0E3A4F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93224" y="2029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71–90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793224" y="23225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793224" y="2779776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JazzX on escalation only. Independence formally assessed at Day 85.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572000"/>
            <a:ext cx="11155680" cy="1371600"/>
          </a:xfrm>
          <a:prstGeom prst="roundRect">
            <a:avLst>
              <a:gd name="adj" fmla="val 5333"/>
            </a:avLst>
          </a:prstGeom>
          <a:solidFill>
            <a:srgbClr val="F7F9FA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47548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 discipline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86200" y="47548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substantive change per surface per cycle — or the effect cannot be attributed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freeze, version tag on every studio loan, full regression set every cycle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01000" y="475488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holdout of 30–40 early loans, never tuned against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at Day 45, 60, 85 — the only way to separate real improvement from us getting used to it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Day 90 decision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6070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outcomes, not two. Criteria signed before the evidence exists.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4663440" cy="3931920"/>
          </a:xfrm>
          <a:prstGeom prst="roundRect">
            <a:avLst>
              <a:gd name="adj" fmla="val 1860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938528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must-pass criteria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5528" y="2286000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Absolute. No weighted score, however strong, overrides a failure.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5528" y="2688336"/>
            <a:ext cx="407822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unremediated borrower-impacting defect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clear rate no worse than baseline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sign-off for production use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validation satisfied to tier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Adverse-action articulability demonstrated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adverse fair lending pattern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unresolved security incidents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viability acceptable at scale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2948940" cy="1828800"/>
          </a:xfrm>
          <a:prstGeom prst="roundRect">
            <a:avLst>
              <a:gd name="adj" fmla="val 4000"/>
            </a:avLst>
          </a:prstGeom>
          <a:solidFill>
            <a:srgbClr val="0E3A4F"/>
          </a:solidFill>
          <a:ln w="12700">
            <a:solidFill>
              <a:srgbClr val="0E3A4F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42432" y="1901952"/>
            <a:ext cx="2436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742432" y="2304288"/>
            <a:ext cx="2436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must-pass clear, weighted ≥ 3.5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42432" y="2670048"/>
            <a:ext cx="24368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released to the pre-agreed figure; team stood up in 30 days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09660" y="1737360"/>
            <a:ext cx="2948940" cy="1828800"/>
          </a:xfrm>
          <a:prstGeom prst="roundRect">
            <a:avLst>
              <a:gd name="adj" fmla="val 4000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5692" y="1901952"/>
            <a:ext cx="2436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965692" y="2304288"/>
            <a:ext cx="2436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concentrated in part of the slice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5692" y="2670048"/>
            <a:ext cx="24368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use continues only where value was proven; contract right-sized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3749040"/>
            <a:ext cx="2948940" cy="1828800"/>
          </a:xfrm>
          <a:prstGeom prst="roundRect">
            <a:avLst>
              <a:gd name="adj" fmla="val 4000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42432" y="3913632"/>
            <a:ext cx="2436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742432" y="4315968"/>
            <a:ext cx="2436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inconclusive, not disappointing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42432" y="4681728"/>
            <a:ext cx="24368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 only, 60 days maximum, written statement of what will differ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09660" y="3749040"/>
            <a:ext cx="2948940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65692" y="3913632"/>
            <a:ext cx="2436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965692" y="4315968"/>
            <a:ext cx="2436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must-pass fails, or weighted &lt; 2.5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65692" y="4681728"/>
            <a:ext cx="24368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end date, contract exit, findings published, team recognised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5870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1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Stop row cannot be costed at G0, the organisation is not running a studio — it is running a rollout with a pilot label.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will actually go wrong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6070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failure modes worth designing against now.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65376"/>
            <a:ext cx="11155680" cy="786384"/>
          </a:xfrm>
          <a:prstGeom prst="roundRect">
            <a:avLst>
              <a:gd name="adj" fmla="val 9302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2075688"/>
            <a:ext cx="365760" cy="36576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6152" y="193852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relief exists on paper only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06240" y="19385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rush the comparison step; the quality data reflects hurried humans, and the G2 read is wrong in a direction nobody can detect.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503920" y="193852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80" i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assignment rules; comparison completion rate watched weekly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02920" y="2743200"/>
            <a:ext cx="11155680" cy="786384"/>
          </a:xfrm>
          <a:prstGeom prst="roundRect">
            <a:avLst>
              <a:gd name="adj" fmla="val 9302"/>
            </a:avLst>
          </a:prstGeom>
          <a:solidFill>
            <a:srgbClr val="F7F9FA"/>
          </a:solidFill>
          <a:ln w="12700">
            <a:solidFill>
              <a:srgbClr val="D3E3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953512"/>
            <a:ext cx="365760" cy="36576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16152" y="281635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baseline never locks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206240" y="281635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data is not clean yet" becomes permanent, and at Day 90 there is nothing to compare against.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8503920" y="281635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80" i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Time-boxed to Phase 1; lock with documented limitations rather than chasing perfection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02920" y="3621024"/>
            <a:ext cx="11155680" cy="786384"/>
          </a:xfrm>
          <a:prstGeom prst="roundRect">
            <a:avLst>
              <a:gd name="adj" fmla="val 9302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3831336"/>
            <a:ext cx="365760" cy="36576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16152" y="3694176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Thresholds move to fit the result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206240" y="369417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becomes an argument about what counts as success.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503920" y="3694176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80" i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and dated before G2 evidence exists; held by Finance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02920" y="4498848"/>
            <a:ext cx="11155680" cy="786384"/>
          </a:xfrm>
          <a:prstGeom prst="roundRect">
            <a:avLst>
              <a:gd name="adj" fmla="val 9302"/>
            </a:avLst>
          </a:prstGeom>
          <a:solidFill>
            <a:srgbClr val="F7F9FA"/>
          </a:solidFill>
          <a:ln w="12700">
            <a:solidFill>
              <a:srgbClr val="D3E3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" y="4709160"/>
            <a:ext cx="365760" cy="36576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16152" y="45720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Anchoring contaminates the comparison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206240" y="45720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look at Jazz first when busy; recall measurement becomes meaningless.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8503920" y="45720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80" i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timestamp, spot-checked weekly, contaminated entries excluded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02920" y="5376672"/>
            <a:ext cx="11155680" cy="786384"/>
          </a:xfrm>
          <a:prstGeom prst="roundRect">
            <a:avLst>
              <a:gd name="adj" fmla="val 9302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" y="5586984"/>
            <a:ext cx="365760" cy="36576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5586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16152" y="544982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never transfers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206240" y="544982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Day 91 only JazzX can change anything, and the scale decision carries an unpriced dependency.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8503920" y="544982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80" i="1" dirty="0">
                <a:solidFill>
                  <a:srgbClr val="1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deliverable with a formal Day 85 independence assessment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1216152" y="15544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06240" y="15544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503920" y="15544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Countermeasure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framework pack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6070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one-pagers, each with purpose, RACI, decisions, framework, templates, cadence, definition of done and risks.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35680" cy="877824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0664" y="1929384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0664" y="2313432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Master 90-Day Plan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898648"/>
            <a:ext cx="3535680" cy="1389888"/>
          </a:xfrm>
          <a:prstGeom prst="roundRect">
            <a:avLst>
              <a:gd name="adj" fmla="val 5263"/>
            </a:avLst>
          </a:prstGeom>
          <a:solidFill>
            <a:srgbClr val="F7F9FA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0664" y="3044952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— Production Readiness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0664" y="3429000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Governance Structure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0664" y="3685032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Borrower &amp; Internal Communications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0664" y="3941064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Change Management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2920" y="1783080"/>
            <a:ext cx="3535680" cy="1389888"/>
          </a:xfrm>
          <a:prstGeom prst="roundRect">
            <a:avLst>
              <a:gd name="adj" fmla="val 5263"/>
            </a:avLst>
          </a:prstGeom>
          <a:solidFill>
            <a:srgbClr val="F7F9FA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50664" y="1929384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— Define Proof of Value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50664" y="2313432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Define What Value Looks Like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50664" y="2569464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Baseline, Targets &amp; Thresholds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50664" y="2825496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Go / No-Go Decision Criteria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2920" y="3410712"/>
            <a:ext cx="3535680" cy="2157984"/>
          </a:xfrm>
          <a:prstGeom prst="roundRect">
            <a:avLst>
              <a:gd name="adj" fmla="val 3390"/>
            </a:avLst>
          </a:prstGeom>
          <a:solidFill>
            <a:srgbClr val="F7F9FA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50664" y="3557016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— Launch Studio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50664" y="3941064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Launch Design Studio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50664" y="4197096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Small Cross-Functional Team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50664" y="4453128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Loan Types &amp; Market Selection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50664" y="4709160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Studio vs. Current Workflow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50664" y="4965192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Weekly Feedback Loop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50664" y="5221224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Observing Real Underwriting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22920" y="1783080"/>
            <a:ext cx="3535680" cy="1901952"/>
          </a:xfrm>
          <a:prstGeom prst="roundRect">
            <a:avLst>
              <a:gd name="adj" fmla="val 3846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60664" y="1929384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— Tune in Jazz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60664" y="2313432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Tune in Jazz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60664" y="2569464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Refining Prompts &amp; Recognition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60664" y="2825496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Documenting Improvement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60664" y="3081528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Next Technology Changes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60664" y="3337560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Builder Studio &amp; Nuggets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22920" y="3922776"/>
            <a:ext cx="3535680" cy="1645920"/>
          </a:xfrm>
          <a:prstGeom prst="roundRect">
            <a:avLst>
              <a:gd name="adj" fmla="val 4444"/>
            </a:avLst>
          </a:prstGeom>
          <a:solidFill>
            <a:srgbClr val="E8F1F4"/>
          </a:solidFill>
          <a:ln w="12700">
            <a:solidFill>
              <a:srgbClr val="D3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3A4F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60664" y="4069080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— Integrate &amp; Deploy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60664" y="4453128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Triggering Loans to Jazz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60664" y="4709160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LOS Extraction &amp; Write-Back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60664" y="4965192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MU Conditions Integration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60664" y="5221224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Minimum-Change Deployment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57790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template in the pack has fill-in fields rather than assumed answers — the slice, the roster, the thresholds and the decision rule are yours to set at G0.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3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to start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6070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decisions and one signature stand between here and Day 1.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2610612" cy="1389888"/>
          </a:xfrm>
          <a:prstGeom prst="roundRect">
            <a:avLst>
              <a:gd name="adj" fmla="val 5263"/>
            </a:avLst>
          </a:prstGeom>
          <a:solidFill>
            <a:srgbClr val="11475C"/>
          </a:solidFill>
          <a:ln w="12700">
            <a:solidFill>
              <a:srgbClr val="1E5C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2148840"/>
            <a:ext cx="213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sponsor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0664" y="2569464"/>
            <a:ext cx="2135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executive accountable for the go / no-go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51276" y="1965960"/>
            <a:ext cx="2610612" cy="1389888"/>
          </a:xfrm>
          <a:prstGeom prst="roundRect">
            <a:avLst>
              <a:gd name="adj" fmla="val 5263"/>
            </a:avLst>
          </a:prstGeom>
          <a:solidFill>
            <a:srgbClr val="11475C"/>
          </a:solidFill>
          <a:ln w="12700">
            <a:solidFill>
              <a:srgbClr val="1E5C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9020" y="2148840"/>
            <a:ext cx="213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released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89020" y="2569464"/>
            <a:ext cx="2135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to eight seats with funded capacity relief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9632" y="1965960"/>
            <a:ext cx="2610612" cy="1389888"/>
          </a:xfrm>
          <a:prstGeom prst="roundRect">
            <a:avLst>
              <a:gd name="adj" fmla="val 5263"/>
            </a:avLst>
          </a:prstGeom>
          <a:solidFill>
            <a:srgbClr val="11475C"/>
          </a:solidFill>
          <a:ln w="12700">
            <a:solidFill>
              <a:srgbClr val="1E5C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2148840"/>
            <a:ext cx="213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 selected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37376" y="2569464"/>
            <a:ext cx="2135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inclusion rule, volume validated against 12 months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47988" y="1965960"/>
            <a:ext cx="2610612" cy="1389888"/>
          </a:xfrm>
          <a:prstGeom prst="roundRect">
            <a:avLst>
              <a:gd name="adj" fmla="val 5263"/>
            </a:avLst>
          </a:prstGeom>
          <a:solidFill>
            <a:srgbClr val="11475C"/>
          </a:solidFill>
          <a:ln w="12700">
            <a:solidFill>
              <a:srgbClr val="1E5C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5732" y="2148840"/>
            <a:ext cx="213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chartered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285732" y="2569464"/>
            <a:ext cx="2135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Steering, Working Group, control functions with block rights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2610612" cy="1389888"/>
          </a:xfrm>
          <a:prstGeom prst="roundRect">
            <a:avLst>
              <a:gd name="adj" fmla="val 5263"/>
            </a:avLst>
          </a:prstGeom>
          <a:solidFill>
            <a:srgbClr val="11475C"/>
          </a:solidFill>
          <a:ln w="12700">
            <a:solidFill>
              <a:srgbClr val="1E5C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" y="3749040"/>
            <a:ext cx="213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review started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0664" y="4169664"/>
            <a:ext cx="2135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longest-lead dependency — start before the SOW is countersigned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51276" y="3566160"/>
            <a:ext cx="2610612" cy="1389888"/>
          </a:xfrm>
          <a:prstGeom prst="roundRect">
            <a:avLst>
              <a:gd name="adj" fmla="val 5263"/>
            </a:avLst>
          </a:prstGeom>
          <a:solidFill>
            <a:srgbClr val="11475C"/>
          </a:solidFill>
          <a:ln w="12700">
            <a:solidFill>
              <a:srgbClr val="1E5C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89020" y="3749040"/>
            <a:ext cx="213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instrumented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89020" y="4169664"/>
            <a:ext cx="2135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live before the first shadow loan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9632" y="3566160"/>
            <a:ext cx="2610612" cy="1389888"/>
          </a:xfrm>
          <a:prstGeom prst="roundRect">
            <a:avLst>
              <a:gd name="adj" fmla="val 5263"/>
            </a:avLst>
          </a:prstGeom>
          <a:solidFill>
            <a:srgbClr val="11475C"/>
          </a:solidFill>
          <a:ln w="12700">
            <a:solidFill>
              <a:srgbClr val="1E5C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7376" y="3749040"/>
            <a:ext cx="213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Thresholds drafted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37376" y="4169664"/>
            <a:ext cx="2135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before G2 evidence exists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47988" y="3566160"/>
            <a:ext cx="2610612" cy="1389888"/>
          </a:xfrm>
          <a:prstGeom prst="roundRect">
            <a:avLst>
              <a:gd name="adj" fmla="val 5263"/>
            </a:avLst>
          </a:prstGeom>
          <a:solidFill>
            <a:srgbClr val="11475C"/>
          </a:solidFill>
          <a:ln w="12700">
            <a:solidFill>
              <a:srgbClr val="1E5C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5732" y="3749040"/>
            <a:ext cx="213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pre-costed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85732" y="4169664"/>
            <a:ext cx="2135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terms and data return agreed while nobody is invested in the answer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5440680"/>
            <a:ext cx="475488" cy="47548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5440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161288" y="5440680"/>
            <a:ext cx="475488" cy="47548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61288" y="5440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19656" y="5440680"/>
            <a:ext cx="475488" cy="47548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19656" y="5440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78024" y="5440680"/>
            <a:ext cx="475488" cy="47548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78024" y="5440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136392" y="5440680"/>
            <a:ext cx="475488" cy="47548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36392" y="5440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51960" y="55321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0 is the only one we control entirely. Everything after it is evidence.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JazzX Design Studio — 90-Day Framework</dc:title>
  <dc:subject>PptxGenJS Presentation</dc:subject>
  <dc:creator>Design Studio Program Office</dc:creator>
  <cp:lastModifiedBy>Design Studio Program Office</cp:lastModifiedBy>
  <cp:revision>1</cp:revision>
  <dcterms:created xsi:type="dcterms:W3CDTF">2026-08-04T00:16:48Z</dcterms:created>
  <dcterms:modified xsi:type="dcterms:W3CDTF">2026-08-04T00:16:48Z</dcterms:modified>
</cp:coreProperties>
</file>